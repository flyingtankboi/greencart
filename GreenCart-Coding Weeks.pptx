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21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24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85551744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85551744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8555174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855517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8555174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8555174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8555174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8555174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855517446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85551744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855517446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855517446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855517446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855517446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85da686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85da686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855517446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85551744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855517446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855517446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855517446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855517446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85da6865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185da686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85551744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85551744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855517446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855517446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4" name="Google Shape;14;p2"/>
          <p:cNvCxnSpPr/>
          <p:nvPr/>
        </p:nvCxnSpPr>
        <p:spPr>
          <a:xfrm>
            <a:off x="-372351" y="3918321"/>
            <a:ext cx="1725000" cy="157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-230451" y="3876402"/>
            <a:ext cx="1725000" cy="157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" name="Google Shape;16;p2"/>
          <p:cNvCxnSpPr/>
          <p:nvPr/>
        </p:nvCxnSpPr>
        <p:spPr>
          <a:xfrm>
            <a:off x="-372351" y="4101862"/>
            <a:ext cx="1725000" cy="157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" name="Google Shape;17;p2"/>
          <p:cNvCxnSpPr/>
          <p:nvPr/>
        </p:nvCxnSpPr>
        <p:spPr>
          <a:xfrm>
            <a:off x="7813349" y="-345429"/>
            <a:ext cx="1725000" cy="157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" name="Google Shape;18;p2"/>
          <p:cNvCxnSpPr/>
          <p:nvPr/>
        </p:nvCxnSpPr>
        <p:spPr>
          <a:xfrm>
            <a:off x="7955249" y="-387348"/>
            <a:ext cx="1725000" cy="157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7813349" y="-161888"/>
            <a:ext cx="1725000" cy="157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5375" y="347525"/>
            <a:ext cx="1039200" cy="103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163500" y="3985675"/>
            <a:ext cx="1759800" cy="174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91750" y="4585675"/>
            <a:ext cx="548700" cy="54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368450" y="25925"/>
            <a:ext cx="1553100" cy="155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11700" y="71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 rot="5400000">
            <a:off x="-188100" y="-129175"/>
            <a:ext cx="1916100" cy="1896000"/>
          </a:xfrm>
          <a:prstGeom prst="rtTriangl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 rot="5400000">
            <a:off x="-185550" y="-131725"/>
            <a:ext cx="1431000" cy="1416000"/>
          </a:xfrm>
          <a:prstGeom prst="rtTriangle">
            <a:avLst/>
          </a:prstGeom>
          <a:solidFill>
            <a:srgbClr val="126563"/>
          </a:solidFill>
          <a:ln cap="flat" cmpd="sng" w="9525">
            <a:solidFill>
              <a:srgbClr val="126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 rot="-5400000">
            <a:off x="7381100" y="3452225"/>
            <a:ext cx="1916100" cy="1896000"/>
          </a:xfrm>
          <a:prstGeom prst="rtTriangl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 rot="-5400000">
            <a:off x="7863650" y="3934775"/>
            <a:ext cx="1431000" cy="1416000"/>
          </a:xfrm>
          <a:prstGeom prst="rtTriangle">
            <a:avLst/>
          </a:prstGeom>
          <a:solidFill>
            <a:srgbClr val="126563"/>
          </a:solidFill>
          <a:ln cap="flat" cmpd="sng" w="9525">
            <a:solidFill>
              <a:srgbClr val="126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169175" y="-141725"/>
            <a:ext cx="9464100" cy="5498100"/>
          </a:xfrm>
          <a:prstGeom prst="rect">
            <a:avLst/>
          </a:prstGeom>
          <a:solidFill>
            <a:srgbClr val="126563"/>
          </a:solidFill>
          <a:ln cap="flat" cmpd="sng" w="9525">
            <a:solidFill>
              <a:srgbClr val="126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1000">
                <a:solidFill>
                  <a:schemeClr val="dk2"/>
                </a:solidFill>
              </a:defRPr>
            </a:lvl1pPr>
            <a:lvl2pPr lvl="1" algn="ctr">
              <a:buNone/>
              <a:defRPr sz="1000">
                <a:solidFill>
                  <a:schemeClr val="dk2"/>
                </a:solidFill>
              </a:defRPr>
            </a:lvl2pPr>
            <a:lvl3pPr lvl="2" algn="ctr">
              <a:buNone/>
              <a:defRPr sz="1000">
                <a:solidFill>
                  <a:schemeClr val="dk2"/>
                </a:solidFill>
              </a:defRPr>
            </a:lvl3pPr>
            <a:lvl4pPr lvl="3" algn="ctr">
              <a:buNone/>
              <a:defRPr sz="1000">
                <a:solidFill>
                  <a:schemeClr val="dk2"/>
                </a:solidFill>
              </a:defRPr>
            </a:lvl4pPr>
            <a:lvl5pPr lvl="4" algn="ctr">
              <a:buNone/>
              <a:defRPr sz="1000">
                <a:solidFill>
                  <a:schemeClr val="dk2"/>
                </a:solidFill>
              </a:defRPr>
            </a:lvl5pPr>
            <a:lvl6pPr lvl="5" algn="ctr">
              <a:buNone/>
              <a:defRPr sz="1000">
                <a:solidFill>
                  <a:schemeClr val="dk2"/>
                </a:solidFill>
              </a:defRPr>
            </a:lvl6pPr>
            <a:lvl7pPr lvl="6" algn="ctr">
              <a:buNone/>
              <a:defRPr sz="1000">
                <a:solidFill>
                  <a:schemeClr val="dk2"/>
                </a:solidFill>
              </a:defRPr>
            </a:lvl7pPr>
            <a:lvl8pPr lvl="7" algn="ctr">
              <a:buNone/>
              <a:defRPr sz="1000">
                <a:solidFill>
                  <a:schemeClr val="dk2"/>
                </a:solidFill>
              </a:defRPr>
            </a:lvl8pPr>
            <a:lvl9pPr lvl="8" algn="ct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D9D9D9"/>
                </a:solidFill>
              </a:rPr>
              <a:t>Une application de liste de courses écologique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70" name="Google Shape;7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200">
                <a:latin typeface="Helvetica Neue"/>
                <a:ea typeface="Helvetica Neue"/>
                <a:cs typeface="Helvetica Neue"/>
                <a:sym typeface="Helvetica Neue"/>
              </a:rPr>
              <a:t>GreenCart</a:t>
            </a:r>
            <a:endParaRPr b="1" sz="6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823" y="296123"/>
            <a:ext cx="1603125" cy="17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 txBox="1"/>
          <p:nvPr/>
        </p:nvSpPr>
        <p:spPr>
          <a:xfrm>
            <a:off x="2197950" y="3306625"/>
            <a:ext cx="47481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B7B7B7"/>
                </a:solidFill>
              </a:rPr>
              <a:t>Denis Le Monnier de Gouville</a:t>
            </a:r>
            <a:endParaRPr sz="1600">
              <a:solidFill>
                <a:srgbClr val="B7B7B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B7B7B7"/>
                </a:solidFill>
              </a:rPr>
              <a:t>Louis Allix</a:t>
            </a:r>
            <a:endParaRPr sz="1600">
              <a:solidFill>
                <a:srgbClr val="B7B7B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B7B7B7"/>
                </a:solidFill>
              </a:rPr>
              <a:t>Maël Delaunay</a:t>
            </a:r>
            <a:endParaRPr sz="1600">
              <a:solidFill>
                <a:srgbClr val="B7B7B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B7B7B7"/>
                </a:solidFill>
              </a:rPr>
              <a:t>Théophile Raybaud</a:t>
            </a:r>
            <a:endParaRPr sz="1600">
              <a:solidFill>
                <a:srgbClr val="B7B7B7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-199150" y="-152975"/>
            <a:ext cx="1603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EFEFEF"/>
                </a:solidFill>
              </a:rPr>
              <a:t>22/11/2024</a:t>
            </a:r>
            <a:endParaRPr sz="1500">
              <a:solidFill>
                <a:srgbClr val="EFEFEF"/>
              </a:solidFill>
            </a:endParaRPr>
          </a:p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3841825" y="2006525"/>
            <a:ext cx="5127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Une interface épurée et intuitive</a:t>
            </a:r>
            <a:endParaRPr b="1"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075" y="741675"/>
            <a:ext cx="1895750" cy="405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719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220"/>
              <a:t>Fonctionnalités</a:t>
            </a:r>
            <a:r>
              <a:rPr b="1" lang="fr" sz="3220"/>
              <a:t> </a:t>
            </a:r>
            <a:r>
              <a:rPr b="1" lang="fr" sz="3220"/>
              <a:t>clés</a:t>
            </a:r>
            <a:endParaRPr b="1" sz="3220"/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1099100" y="1622375"/>
            <a:ext cx="73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Liste de courses </a:t>
            </a:r>
            <a:r>
              <a:rPr lang="fr"/>
              <a:t>interactive</a:t>
            </a:r>
            <a:r>
              <a:rPr lang="fr"/>
              <a:t> pour organiser ses achats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Indicateur d’empreinte carbone grâce au code barre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Onglet de création de recette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Archivage des listes de courses déjà </a:t>
            </a:r>
            <a:r>
              <a:rPr lang="fr"/>
              <a:t>effectuées avec </a:t>
            </a:r>
            <a:r>
              <a:rPr lang="fr"/>
              <a:t>persistance</a:t>
            </a:r>
            <a:r>
              <a:rPr lang="fr"/>
              <a:t> des données</a:t>
            </a:r>
            <a:endParaRPr/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ctrTitle"/>
          </p:nvPr>
        </p:nvSpPr>
        <p:spPr>
          <a:xfrm>
            <a:off x="311700" y="1073725"/>
            <a:ext cx="85206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Nouvelles </a:t>
            </a:r>
            <a:r>
              <a:rPr b="1" lang="fr" sz="3200"/>
              <a:t>fonctionnalités</a:t>
            </a:r>
            <a:endParaRPr b="1" sz="3200"/>
          </a:p>
        </p:txBody>
      </p:sp>
      <p:sp>
        <p:nvSpPr>
          <p:cNvPr id="94" name="Google Shape;94;p16"/>
          <p:cNvSpPr txBox="1"/>
          <p:nvPr>
            <p:ph idx="1" type="subTitle"/>
          </p:nvPr>
        </p:nvSpPr>
        <p:spPr>
          <a:xfrm>
            <a:off x="311700" y="2065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Utilisation d’une Navbar avec des fragments plutôt que des activités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Utilisation de la caméra pour scanner des codes barre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Enregistrement des données locales dans des fichiers JSON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Utilisation d’une base de donnée SQL locale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Utilisation de RecyclerView</a:t>
            </a:r>
            <a:endParaRPr sz="1800"/>
          </a:p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4020"/>
              <a:t>Démonstration </a:t>
            </a:r>
            <a:endParaRPr b="1" sz="4020"/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038" y="1119648"/>
            <a:ext cx="1547900" cy="3376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175" y="1124977"/>
            <a:ext cx="1547900" cy="33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3225" y="1138025"/>
            <a:ext cx="1547900" cy="332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4923" y="1138016"/>
            <a:ext cx="1547900" cy="3339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9325" y="1144517"/>
            <a:ext cx="1547900" cy="332642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4861775" y="4297675"/>
            <a:ext cx="1905000" cy="829200"/>
          </a:xfrm>
          <a:custGeom>
            <a:rect b="b" l="l" r="r" t="t"/>
            <a:pathLst>
              <a:path extrusionOk="0" h="33168" w="76200">
                <a:moveTo>
                  <a:pt x="0" y="0"/>
                </a:moveTo>
                <a:cubicBezTo>
                  <a:pt x="5842" y="5503"/>
                  <a:pt x="22352" y="31835"/>
                  <a:pt x="35052" y="33020"/>
                </a:cubicBezTo>
                <a:cubicBezTo>
                  <a:pt x="47752" y="34205"/>
                  <a:pt x="69342" y="11430"/>
                  <a:pt x="76200" y="7112"/>
                </a:cubicBezTo>
              </a:path>
            </a:pathLst>
          </a:cu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12" name="Google Shape;112;p18"/>
          <p:cNvSpPr/>
          <p:nvPr/>
        </p:nvSpPr>
        <p:spPr>
          <a:xfrm>
            <a:off x="5204675" y="4297675"/>
            <a:ext cx="3175064" cy="829200"/>
          </a:xfrm>
          <a:custGeom>
            <a:rect b="b" l="l" r="r" t="t"/>
            <a:pathLst>
              <a:path extrusionOk="0" h="33168" w="76200">
                <a:moveTo>
                  <a:pt x="0" y="0"/>
                </a:moveTo>
                <a:cubicBezTo>
                  <a:pt x="5842" y="5503"/>
                  <a:pt x="22352" y="31835"/>
                  <a:pt x="35052" y="33020"/>
                </a:cubicBezTo>
                <a:cubicBezTo>
                  <a:pt x="47752" y="34205"/>
                  <a:pt x="69342" y="11430"/>
                  <a:pt x="76200" y="7112"/>
                </a:cubicBezTo>
              </a:path>
            </a:pathLst>
          </a:cu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13" name="Google Shape;113;p18"/>
          <p:cNvSpPr/>
          <p:nvPr/>
        </p:nvSpPr>
        <p:spPr>
          <a:xfrm flipH="1">
            <a:off x="1001019" y="4297675"/>
            <a:ext cx="2936558" cy="829200"/>
          </a:xfrm>
          <a:custGeom>
            <a:rect b="b" l="l" r="r" t="t"/>
            <a:pathLst>
              <a:path extrusionOk="0" h="33168" w="76200">
                <a:moveTo>
                  <a:pt x="0" y="0"/>
                </a:moveTo>
                <a:cubicBezTo>
                  <a:pt x="5842" y="5503"/>
                  <a:pt x="22352" y="31835"/>
                  <a:pt x="35052" y="33020"/>
                </a:cubicBezTo>
                <a:cubicBezTo>
                  <a:pt x="47752" y="34205"/>
                  <a:pt x="69342" y="11430"/>
                  <a:pt x="76200" y="7112"/>
                </a:cubicBezTo>
              </a:path>
            </a:pathLst>
          </a:cu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14" name="Google Shape;114;p18"/>
          <p:cNvSpPr/>
          <p:nvPr/>
        </p:nvSpPr>
        <p:spPr>
          <a:xfrm flipH="1">
            <a:off x="2349999" y="4297675"/>
            <a:ext cx="1841563" cy="829200"/>
          </a:xfrm>
          <a:custGeom>
            <a:rect b="b" l="l" r="r" t="t"/>
            <a:pathLst>
              <a:path extrusionOk="0" h="33168" w="76200">
                <a:moveTo>
                  <a:pt x="0" y="0"/>
                </a:moveTo>
                <a:cubicBezTo>
                  <a:pt x="5842" y="5503"/>
                  <a:pt x="22352" y="31835"/>
                  <a:pt x="35052" y="33020"/>
                </a:cubicBezTo>
                <a:cubicBezTo>
                  <a:pt x="47752" y="34205"/>
                  <a:pt x="69342" y="11430"/>
                  <a:pt x="76200" y="7112"/>
                </a:cubicBezTo>
              </a:path>
            </a:pathLst>
          </a:cu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1572600" y="1284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Navigation avec une NavBar</a:t>
            </a:r>
            <a:endParaRPr b="1" sz="3200"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74550" y="770401"/>
            <a:ext cx="990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FEFEF"/>
                </a:solidFill>
              </a:rPr>
              <a:t>Scan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031825" y="758725"/>
            <a:ext cx="990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FEFEF"/>
                </a:solidFill>
              </a:rPr>
              <a:t>Recettes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801263" y="751993"/>
            <a:ext cx="1770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FEFEF"/>
                </a:solidFill>
              </a:rPr>
              <a:t>Liste de course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7907975" y="758725"/>
            <a:ext cx="990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FEFEF"/>
                </a:solidFill>
              </a:rPr>
              <a:t>À propos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6002806" y="768505"/>
            <a:ext cx="1770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FEFEF"/>
                </a:solidFill>
              </a:rPr>
              <a:t>Historique</a:t>
            </a: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0025" y="1126675"/>
            <a:ext cx="1547900" cy="3321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9"/>
          <p:cNvCxnSpPr/>
          <p:nvPr/>
        </p:nvCxnSpPr>
        <p:spPr>
          <a:xfrm flipH="1" rot="10800000">
            <a:off x="5127975" y="270350"/>
            <a:ext cx="2225400" cy="1042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1325" y="35302"/>
            <a:ext cx="1547900" cy="329854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1430775" y="12020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Onglet Liste</a:t>
            </a:r>
            <a:endParaRPr b="1" sz="3200"/>
          </a:p>
        </p:txBody>
      </p:sp>
      <p:sp>
        <p:nvSpPr>
          <p:cNvPr id="131" name="Google Shape;131;p19"/>
          <p:cNvSpPr txBox="1"/>
          <p:nvPr/>
        </p:nvSpPr>
        <p:spPr>
          <a:xfrm>
            <a:off x="5859613" y="877700"/>
            <a:ext cx="12447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Recherche </a:t>
            </a:r>
            <a:r>
              <a:rPr lang="fr" sz="1000">
                <a:solidFill>
                  <a:schemeClr val="lt1"/>
                </a:solidFill>
              </a:rPr>
              <a:t>dans la base de donnée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SQL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32" name="Google Shape;132;p19"/>
          <p:cNvCxnSpPr/>
          <p:nvPr/>
        </p:nvCxnSpPr>
        <p:spPr>
          <a:xfrm rot="10800000">
            <a:off x="2113750" y="2893475"/>
            <a:ext cx="2702100" cy="616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9"/>
          <p:cNvSpPr txBox="1"/>
          <p:nvPr/>
        </p:nvSpPr>
        <p:spPr>
          <a:xfrm>
            <a:off x="92500" y="2478275"/>
            <a:ext cx="34545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Intent implicite</a:t>
            </a:r>
            <a:r>
              <a:rPr lang="fr" sz="1000">
                <a:solidFill>
                  <a:schemeClr val="lt1"/>
                </a:solidFill>
              </a:rPr>
              <a:t>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ACTION_SEND pour partager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la liste en texte/plain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34" name="Google Shape;134;p19"/>
          <p:cNvCxnSpPr/>
          <p:nvPr/>
        </p:nvCxnSpPr>
        <p:spPr>
          <a:xfrm rot="10800000">
            <a:off x="2631350" y="3777075"/>
            <a:ext cx="2121000" cy="1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9"/>
          <p:cNvSpPr txBox="1"/>
          <p:nvPr/>
        </p:nvSpPr>
        <p:spPr>
          <a:xfrm>
            <a:off x="307450" y="3464275"/>
            <a:ext cx="24891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Écriture </a:t>
            </a:r>
            <a:r>
              <a:rPr lang="fr" sz="1000">
                <a:solidFill>
                  <a:schemeClr val="lt1"/>
                </a:solidFill>
              </a:rPr>
              <a:t>de </a:t>
            </a:r>
            <a:r>
              <a:rPr lang="fr" sz="1000">
                <a:solidFill>
                  <a:schemeClr val="lt1"/>
                </a:solidFill>
              </a:rPr>
              <a:t>la liste dans historique.json et on </a:t>
            </a:r>
            <a:r>
              <a:rPr b="1" lang="fr" sz="1000">
                <a:solidFill>
                  <a:schemeClr val="lt1"/>
                </a:solidFill>
              </a:rPr>
              <a:t>vide </a:t>
            </a:r>
            <a:r>
              <a:rPr lang="fr" sz="1000">
                <a:solidFill>
                  <a:schemeClr val="lt1"/>
                </a:solidFill>
              </a:rPr>
              <a:t>le JSON contenant la liste actuelle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36" name="Google Shape;136;p19"/>
          <p:cNvCxnSpPr/>
          <p:nvPr/>
        </p:nvCxnSpPr>
        <p:spPr>
          <a:xfrm rot="10800000">
            <a:off x="2402770" y="1473419"/>
            <a:ext cx="1228800" cy="276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9"/>
          <p:cNvSpPr txBox="1"/>
          <p:nvPr/>
        </p:nvSpPr>
        <p:spPr>
          <a:xfrm>
            <a:off x="-37700" y="933300"/>
            <a:ext cx="34545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Détecte les swipes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À droite on set l’attribut JSON “isbought” à true l’item est alors grisé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À gauche on enlève l’item du JSON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38" name="Google Shape;138;p19"/>
          <p:cNvCxnSpPr>
            <a:endCxn id="139" idx="1"/>
          </p:cNvCxnSpPr>
          <p:nvPr/>
        </p:nvCxnSpPr>
        <p:spPr>
          <a:xfrm>
            <a:off x="5110763" y="1514763"/>
            <a:ext cx="660900" cy="70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9"/>
          <p:cNvSpPr txBox="1"/>
          <p:nvPr/>
        </p:nvSpPr>
        <p:spPr>
          <a:xfrm>
            <a:off x="5771663" y="1947363"/>
            <a:ext cx="12447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Compteur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Article acheté sur total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5625" y="2638775"/>
            <a:ext cx="1337975" cy="228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19"/>
          <p:cNvCxnSpPr/>
          <p:nvPr/>
        </p:nvCxnSpPr>
        <p:spPr>
          <a:xfrm flipH="1">
            <a:off x="8085850" y="484850"/>
            <a:ext cx="182400" cy="3710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9"/>
          <p:cNvSpPr txBox="1"/>
          <p:nvPr/>
        </p:nvSpPr>
        <p:spPr>
          <a:xfrm>
            <a:off x="7301300" y="4232588"/>
            <a:ext cx="133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+Add product </a:t>
            </a:r>
            <a:r>
              <a:rPr lang="fr" sz="1000">
                <a:solidFill>
                  <a:schemeClr val="lt1"/>
                </a:solidFill>
              </a:rPr>
              <a:t>pour ajouter au SQL le text dans l’edit text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78750" y="1160775"/>
            <a:ext cx="8763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0" y="1261275"/>
            <a:ext cx="58083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Un fichier JSON stockant la liste courante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fr" sz="1800">
                <a:solidFill>
                  <a:schemeClr val="lt1"/>
                </a:solidFill>
              </a:rPr>
              <a:t>Dès que le fragment s’ouvre, on lit le fichier JSON pour afficher la liste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fr" sz="1800">
                <a:solidFill>
                  <a:schemeClr val="lt1"/>
                </a:solidFill>
              </a:rPr>
              <a:t>Lorsque l’on coche des articles, leur argument n’est que changé dans un vecteur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fr" sz="1800">
                <a:solidFill>
                  <a:schemeClr val="lt1"/>
                </a:solidFill>
              </a:rPr>
              <a:t>Le fichier est mis à jour lors de l’appel à la méthode onPause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La barre de recherche effectue une recherche SQL dans la Base de donnée locale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1572600" y="1284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Gestion en backend</a:t>
            </a:r>
            <a:endParaRPr b="1" sz="3200"/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4800" y="953725"/>
            <a:ext cx="2201826" cy="37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ctrTitle"/>
          </p:nvPr>
        </p:nvSpPr>
        <p:spPr>
          <a:xfrm>
            <a:off x="311700" y="0"/>
            <a:ext cx="8520600" cy="69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Modèle de la base de données</a:t>
            </a:r>
            <a:endParaRPr b="1" sz="3200"/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375" y="1084600"/>
            <a:ext cx="5299238" cy="27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1079550" y="3990625"/>
            <a:ext cx="69849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Base de donnée bilingue Français/Anglais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On utilise un ID pour chaque item pour pouvoir mettre plus de langue s’il le faut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idx="4294967295" type="body"/>
          </p:nvPr>
        </p:nvSpPr>
        <p:spPr>
          <a:xfrm>
            <a:off x="1572600" y="37350"/>
            <a:ext cx="5998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 sz="3200"/>
              <a:t>Close up sur le scanner</a:t>
            </a:r>
            <a:endParaRPr b="1" sz="3200"/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025" y="1046750"/>
            <a:ext cx="1595750" cy="3425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900" y="1104662"/>
            <a:ext cx="1595740" cy="342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/>
          <p:nvPr/>
        </p:nvSpPr>
        <p:spPr>
          <a:xfrm>
            <a:off x="3036746" y="3713475"/>
            <a:ext cx="3492056" cy="433678"/>
          </a:xfrm>
          <a:custGeom>
            <a:rect b="b" l="l" r="r" t="t"/>
            <a:pathLst>
              <a:path extrusionOk="0" h="25050" w="116840">
                <a:moveTo>
                  <a:pt x="116840" y="7620"/>
                </a:moveTo>
                <a:cubicBezTo>
                  <a:pt x="106172" y="10499"/>
                  <a:pt x="72305" y="26162"/>
                  <a:pt x="52832" y="24892"/>
                </a:cubicBezTo>
                <a:cubicBezTo>
                  <a:pt x="33359" y="23622"/>
                  <a:pt x="8805" y="4149"/>
                  <a:pt x="0" y="0"/>
                </a:cubicBezTo>
              </a:path>
            </a:pathLst>
          </a:cu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8" name="Google Shape;168;p22"/>
          <p:cNvSpPr/>
          <p:nvPr/>
        </p:nvSpPr>
        <p:spPr>
          <a:xfrm>
            <a:off x="3089950" y="2024375"/>
            <a:ext cx="2964099" cy="266663"/>
          </a:xfrm>
          <a:custGeom>
            <a:rect b="b" l="l" r="r" t="t"/>
            <a:pathLst>
              <a:path extrusionOk="0" h="30607" w="89408">
                <a:moveTo>
                  <a:pt x="0" y="24511"/>
                </a:moveTo>
                <a:cubicBezTo>
                  <a:pt x="7027" y="20447"/>
                  <a:pt x="27263" y="-889"/>
                  <a:pt x="42164" y="127"/>
                </a:cubicBezTo>
                <a:cubicBezTo>
                  <a:pt x="57065" y="1143"/>
                  <a:pt x="81534" y="25527"/>
                  <a:pt x="89408" y="30607"/>
                </a:cubicBezTo>
              </a:path>
            </a:pathLst>
          </a:cu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9" name="Google Shape;169;p22"/>
          <p:cNvSpPr txBox="1"/>
          <p:nvPr/>
        </p:nvSpPr>
        <p:spPr>
          <a:xfrm>
            <a:off x="3378938" y="2234775"/>
            <a:ext cx="23778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Une fois le code barre détecté → </a:t>
            </a:r>
            <a:r>
              <a:rPr b="1" lang="fr" sz="1100">
                <a:solidFill>
                  <a:schemeClr val="lt1"/>
                </a:solidFill>
              </a:rPr>
              <a:t>Appel </a:t>
            </a:r>
            <a:r>
              <a:rPr lang="fr" sz="1100">
                <a:solidFill>
                  <a:schemeClr val="lt1"/>
                </a:solidFill>
              </a:rPr>
              <a:t>à l’API de OpenFoodFacts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3554550" y="4202500"/>
            <a:ext cx="18468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</a:rPr>
              <a:t>Rescan </a:t>
            </a:r>
            <a:r>
              <a:rPr lang="fr" sz="1100">
                <a:solidFill>
                  <a:schemeClr val="lt1"/>
                </a:solidFill>
              </a:rPr>
              <a:t>retourne au fragment de scan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3289050" y="904975"/>
            <a:ext cx="23778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Utilisation des </a:t>
            </a:r>
            <a:r>
              <a:rPr b="1" lang="fr" sz="1100">
                <a:solidFill>
                  <a:schemeClr val="lt1"/>
                </a:solidFill>
              </a:rPr>
              <a:t>bibliothèques </a:t>
            </a:r>
            <a:r>
              <a:rPr lang="fr" sz="1100">
                <a:solidFill>
                  <a:schemeClr val="lt1"/>
                </a:solidFill>
              </a:rPr>
              <a:t>CameraX ainsi que BarcodeScanner proposé par Google.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1572600" y="1284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Onglet Recette</a:t>
            </a:r>
            <a:endParaRPr b="1" sz="3200"/>
          </a:p>
        </p:txBody>
      </p:sp>
      <p:pic>
        <p:nvPicPr>
          <p:cNvPr id="179" name="Google Shape;1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450" y="1031200"/>
            <a:ext cx="1526475" cy="328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225" y="1023527"/>
            <a:ext cx="1526481" cy="3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/>
          <p:nvPr/>
        </p:nvSpPr>
        <p:spPr>
          <a:xfrm>
            <a:off x="1375200" y="4092750"/>
            <a:ext cx="69300" cy="105300"/>
          </a:xfrm>
          <a:prstGeom prst="rect">
            <a:avLst/>
          </a:prstGeom>
          <a:solidFill>
            <a:srgbClr val="126563"/>
          </a:solidFill>
          <a:ln cap="flat" cmpd="sng" w="9525">
            <a:solidFill>
              <a:srgbClr val="126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1269400" y="4001200"/>
            <a:ext cx="4020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0">
                <a:solidFill>
                  <a:schemeClr val="lt1"/>
                </a:solidFill>
              </a:rPr>
              <a:t>er</a:t>
            </a:r>
            <a:endParaRPr b="1" sz="650">
              <a:solidFill>
                <a:schemeClr val="lt1"/>
              </a:solidFill>
            </a:endParaRPr>
          </a:p>
        </p:txBody>
      </p:sp>
      <p:cxnSp>
        <p:nvCxnSpPr>
          <p:cNvPr id="183" name="Google Shape;183;p23"/>
          <p:cNvCxnSpPr/>
          <p:nvPr/>
        </p:nvCxnSpPr>
        <p:spPr>
          <a:xfrm flipH="1">
            <a:off x="1901050" y="1487775"/>
            <a:ext cx="2377500" cy="78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p23"/>
          <p:cNvSpPr txBox="1"/>
          <p:nvPr/>
        </p:nvSpPr>
        <p:spPr>
          <a:xfrm>
            <a:off x="2285675" y="1544100"/>
            <a:ext cx="15768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Ouverture </a:t>
            </a:r>
            <a:r>
              <a:rPr lang="fr" sz="1000">
                <a:solidFill>
                  <a:schemeClr val="lt1"/>
                </a:solidFill>
              </a:rPr>
              <a:t>de la fiche concernée à partir de son JSONObject, en passant au fragment l’objet contenant la recette.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7074000" y="4374000"/>
            <a:ext cx="207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8475" y="1034823"/>
            <a:ext cx="1526475" cy="32731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23"/>
          <p:cNvCxnSpPr>
            <a:endCxn id="186" idx="1"/>
          </p:cNvCxnSpPr>
          <p:nvPr/>
        </p:nvCxnSpPr>
        <p:spPr>
          <a:xfrm flipH="1" rot="10800000">
            <a:off x="5704775" y="2671418"/>
            <a:ext cx="1673700" cy="978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3"/>
          <p:cNvSpPr txBox="1"/>
          <p:nvPr/>
        </p:nvSpPr>
        <p:spPr>
          <a:xfrm>
            <a:off x="5892575" y="3421375"/>
            <a:ext cx="1485900" cy="1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Création </a:t>
            </a:r>
            <a:r>
              <a:rPr lang="fr" sz="1000">
                <a:solidFill>
                  <a:schemeClr val="lt1"/>
                </a:solidFill>
              </a:rPr>
              <a:t>et ouverture d’une nouvelle fiche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2400" y="3554025"/>
            <a:ext cx="698625" cy="2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23775" y="2638395"/>
            <a:ext cx="1985425" cy="13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6" name="Google Shape;1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8437" y="1059652"/>
            <a:ext cx="1526481" cy="3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/>
          <p:nvPr/>
        </p:nvSpPr>
        <p:spPr>
          <a:xfrm>
            <a:off x="2257525" y="3751850"/>
            <a:ext cx="69300" cy="105300"/>
          </a:xfrm>
          <a:prstGeom prst="rect">
            <a:avLst/>
          </a:prstGeom>
          <a:solidFill>
            <a:srgbClr val="126563"/>
          </a:solidFill>
          <a:ln cap="flat" cmpd="sng" w="9525">
            <a:solidFill>
              <a:srgbClr val="126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1572600" y="1284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Détail d’une fiche recette</a:t>
            </a:r>
            <a:endParaRPr b="1" sz="3200"/>
          </a:p>
        </p:txBody>
      </p:sp>
      <p:cxnSp>
        <p:nvCxnSpPr>
          <p:cNvPr id="199" name="Google Shape;199;p24"/>
          <p:cNvCxnSpPr/>
          <p:nvPr/>
        </p:nvCxnSpPr>
        <p:spPr>
          <a:xfrm flipH="1">
            <a:off x="5183750" y="1092875"/>
            <a:ext cx="1844700" cy="100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4"/>
          <p:cNvSpPr txBox="1"/>
          <p:nvPr/>
        </p:nvSpPr>
        <p:spPr>
          <a:xfrm>
            <a:off x="7054525" y="826175"/>
            <a:ext cx="2205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Suppression</a:t>
            </a:r>
            <a:r>
              <a:rPr b="1" lang="fr" sz="1000">
                <a:solidFill>
                  <a:schemeClr val="lt1"/>
                </a:solidFill>
              </a:rPr>
              <a:t> </a:t>
            </a:r>
            <a:r>
              <a:rPr lang="fr" sz="1000">
                <a:solidFill>
                  <a:schemeClr val="lt1"/>
                </a:solidFill>
              </a:rPr>
              <a:t>de la recette du JSON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4993100" y="1634300"/>
            <a:ext cx="190800" cy="10428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4"/>
          <p:cNvCxnSpPr/>
          <p:nvPr/>
        </p:nvCxnSpPr>
        <p:spPr>
          <a:xfrm rot="10800000">
            <a:off x="5183800" y="2092475"/>
            <a:ext cx="1419900" cy="180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4"/>
          <p:cNvSpPr txBox="1"/>
          <p:nvPr/>
        </p:nvSpPr>
        <p:spPr>
          <a:xfrm>
            <a:off x="6654475" y="2036775"/>
            <a:ext cx="20112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</a:rPr>
              <a:t>Suppression </a:t>
            </a:r>
            <a:r>
              <a:rPr lang="fr" sz="1000">
                <a:solidFill>
                  <a:schemeClr val="lt1"/>
                </a:solidFill>
              </a:rPr>
              <a:t>des ingrédients un à un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04" name="Google Shape;204;p24"/>
          <p:cNvCxnSpPr/>
          <p:nvPr/>
        </p:nvCxnSpPr>
        <p:spPr>
          <a:xfrm flipH="1" rot="10800000">
            <a:off x="1897225" y="1441650"/>
            <a:ext cx="1848900" cy="728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4"/>
          <p:cNvSpPr txBox="1"/>
          <p:nvPr/>
        </p:nvSpPr>
        <p:spPr>
          <a:xfrm>
            <a:off x="-57725" y="1885100"/>
            <a:ext cx="2205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Barre de recherche liée à la base de donnée pour</a:t>
            </a:r>
            <a:r>
              <a:rPr b="1" lang="fr" sz="1000">
                <a:solidFill>
                  <a:schemeClr val="lt1"/>
                </a:solidFill>
              </a:rPr>
              <a:t> l’ajout des </a:t>
            </a:r>
            <a:r>
              <a:rPr b="1" lang="fr" sz="1000">
                <a:solidFill>
                  <a:schemeClr val="lt1"/>
                </a:solidFill>
              </a:rPr>
              <a:t>ingrédients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06" name="Google Shape;206;p24"/>
          <p:cNvCxnSpPr/>
          <p:nvPr/>
        </p:nvCxnSpPr>
        <p:spPr>
          <a:xfrm flipH="1" rot="10800000">
            <a:off x="2186700" y="3724600"/>
            <a:ext cx="1877100" cy="555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4"/>
          <p:cNvSpPr txBox="1"/>
          <p:nvPr/>
        </p:nvSpPr>
        <p:spPr>
          <a:xfrm>
            <a:off x="94675" y="4202625"/>
            <a:ext cx="2205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Bouton pour </a:t>
            </a:r>
            <a:r>
              <a:rPr b="1" lang="fr" sz="1000">
                <a:solidFill>
                  <a:schemeClr val="lt1"/>
                </a:solidFill>
              </a:rPr>
              <a:t>revenir </a:t>
            </a:r>
            <a:r>
              <a:rPr lang="fr" sz="1000">
                <a:solidFill>
                  <a:schemeClr val="lt1"/>
                </a:solidFill>
              </a:rPr>
              <a:t>à la liste des recettes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08" name="Google Shape;208;p24"/>
          <p:cNvCxnSpPr/>
          <p:nvPr/>
        </p:nvCxnSpPr>
        <p:spPr>
          <a:xfrm flipH="1" rot="10800000">
            <a:off x="2373475" y="3047325"/>
            <a:ext cx="1372800" cy="93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4"/>
          <p:cNvSpPr txBox="1"/>
          <p:nvPr/>
        </p:nvSpPr>
        <p:spPr>
          <a:xfrm>
            <a:off x="609600" y="2937400"/>
            <a:ext cx="2205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Instructions </a:t>
            </a:r>
            <a:r>
              <a:rPr b="1" lang="fr" sz="1000">
                <a:solidFill>
                  <a:schemeClr val="lt1"/>
                </a:solidFill>
              </a:rPr>
              <a:t>modifiables </a:t>
            </a:r>
            <a:r>
              <a:rPr lang="fr" sz="1000">
                <a:solidFill>
                  <a:schemeClr val="lt1"/>
                </a:solidFill>
              </a:rPr>
              <a:t>en cliquant sur le texte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10" name="Google Shape;210;p24"/>
          <p:cNvCxnSpPr/>
          <p:nvPr/>
        </p:nvCxnSpPr>
        <p:spPr>
          <a:xfrm>
            <a:off x="1953250" y="1254600"/>
            <a:ext cx="2082300" cy="3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4"/>
          <p:cNvSpPr txBox="1"/>
          <p:nvPr/>
        </p:nvSpPr>
        <p:spPr>
          <a:xfrm>
            <a:off x="276775" y="954200"/>
            <a:ext cx="1848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Titre </a:t>
            </a:r>
            <a:r>
              <a:rPr b="1" lang="fr" sz="1000">
                <a:solidFill>
                  <a:schemeClr val="lt1"/>
                </a:solidFill>
              </a:rPr>
              <a:t>modifiable </a:t>
            </a:r>
            <a:r>
              <a:rPr lang="fr" sz="1000">
                <a:solidFill>
                  <a:schemeClr val="lt1"/>
                </a:solidFill>
              </a:rPr>
              <a:t>en cliquant sur le texte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1572600" y="1284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Historique</a:t>
            </a:r>
            <a:endParaRPr b="1" sz="3200"/>
          </a:p>
        </p:txBody>
      </p:sp>
      <p:pic>
        <p:nvPicPr>
          <p:cNvPr id="218" name="Google Shape;2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575" y="733575"/>
            <a:ext cx="1894210" cy="410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 txBox="1"/>
          <p:nvPr/>
        </p:nvSpPr>
        <p:spPr>
          <a:xfrm>
            <a:off x="5748275" y="2593350"/>
            <a:ext cx="36174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</a:rPr>
              <a:t>Importer </a:t>
            </a:r>
            <a:r>
              <a:rPr lang="fr" sz="1100">
                <a:solidFill>
                  <a:schemeClr val="lt1"/>
                </a:solidFill>
              </a:rPr>
              <a:t>écrit sur le JSON de la liste courante pour la remplacer par celle sauvegardé</a:t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220" name="Google Shape;220;p25"/>
          <p:cNvCxnSpPr/>
          <p:nvPr/>
        </p:nvCxnSpPr>
        <p:spPr>
          <a:xfrm rot="10800000">
            <a:off x="4666750" y="1457650"/>
            <a:ext cx="2187900" cy="118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5"/>
          <p:cNvCxnSpPr/>
          <p:nvPr/>
        </p:nvCxnSpPr>
        <p:spPr>
          <a:xfrm>
            <a:off x="2644075" y="962200"/>
            <a:ext cx="1068900" cy="28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5"/>
          <p:cNvSpPr txBox="1"/>
          <p:nvPr/>
        </p:nvSpPr>
        <p:spPr>
          <a:xfrm>
            <a:off x="129700" y="508450"/>
            <a:ext cx="28530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Le nom est </a:t>
            </a:r>
            <a:r>
              <a:rPr b="1" lang="fr" sz="1100">
                <a:solidFill>
                  <a:schemeClr val="lt1"/>
                </a:solidFill>
              </a:rPr>
              <a:t>éditable </a:t>
            </a:r>
            <a:r>
              <a:rPr lang="fr" sz="1100">
                <a:solidFill>
                  <a:schemeClr val="lt1"/>
                </a:solidFill>
              </a:rPr>
              <a:t>en cliquant dessus ce qui vient changer l’attribut “name”</a:t>
            </a:r>
            <a:endParaRPr sz="1100">
              <a:solidFill>
                <a:schemeClr val="lt1"/>
              </a:solidFill>
            </a:endParaRPr>
          </a:p>
        </p:txBody>
      </p:sp>
      <p:cxnSp>
        <p:nvCxnSpPr>
          <p:cNvPr id="223" name="Google Shape;223;p25"/>
          <p:cNvCxnSpPr/>
          <p:nvPr/>
        </p:nvCxnSpPr>
        <p:spPr>
          <a:xfrm flipH="1">
            <a:off x="5273375" y="1140250"/>
            <a:ext cx="1201500" cy="102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5"/>
          <p:cNvSpPr txBox="1"/>
          <p:nvPr/>
        </p:nvSpPr>
        <p:spPr>
          <a:xfrm>
            <a:off x="6474875" y="774825"/>
            <a:ext cx="2654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Lorsqu’on sauvegarde notre liste on </a:t>
            </a:r>
            <a:r>
              <a:rPr b="1" lang="fr" sz="1100">
                <a:solidFill>
                  <a:schemeClr val="lt1"/>
                </a:solidFill>
              </a:rPr>
              <a:t>stock </a:t>
            </a:r>
            <a:r>
              <a:rPr lang="fr" sz="1100">
                <a:solidFill>
                  <a:schemeClr val="lt1"/>
                </a:solidFill>
              </a:rPr>
              <a:t>la date qui est mise dans un attribut “date”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627050" y="1185939"/>
            <a:ext cx="275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BACKEND :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627050" y="1674775"/>
            <a:ext cx="24354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L’historique est stocké dans un JSON “historique.json” qui est un JSONArray d’objet liste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227" name="Google Shape;22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274" y="2419350"/>
            <a:ext cx="1592826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33" name="Google Shape;233;p26"/>
          <p:cNvSpPr txBox="1"/>
          <p:nvPr>
            <p:ph idx="1" type="body"/>
          </p:nvPr>
        </p:nvSpPr>
        <p:spPr>
          <a:xfrm>
            <a:off x="1572600" y="1284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/>
              <a:t>A propos de nous</a:t>
            </a:r>
            <a:endParaRPr b="1" sz="3200"/>
          </a:p>
        </p:txBody>
      </p:sp>
      <p:pic>
        <p:nvPicPr>
          <p:cNvPr id="234" name="Google Shape;2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580" y="852325"/>
            <a:ext cx="1915404" cy="41051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26"/>
          <p:cNvCxnSpPr/>
          <p:nvPr/>
        </p:nvCxnSpPr>
        <p:spPr>
          <a:xfrm flipH="1">
            <a:off x="3778850" y="2903350"/>
            <a:ext cx="1772700" cy="59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6"/>
          <p:cNvSpPr txBox="1"/>
          <p:nvPr/>
        </p:nvSpPr>
        <p:spPr>
          <a:xfrm>
            <a:off x="5551550" y="2491300"/>
            <a:ext cx="28530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1"/>
                </a:solidFill>
              </a:rPr>
              <a:t>Réinitialise </a:t>
            </a:r>
            <a:r>
              <a:rPr lang="fr" sz="1100">
                <a:solidFill>
                  <a:schemeClr val="lt1"/>
                </a:solidFill>
              </a:rPr>
              <a:t>les éléments ajoutés par l’utilisateur</a:t>
            </a:r>
            <a:r>
              <a:rPr b="1" lang="fr" sz="1100">
                <a:solidFill>
                  <a:schemeClr val="lt1"/>
                </a:solidFill>
              </a:rPr>
              <a:t> </a:t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2" name="Google Shape;242;p27"/>
          <p:cNvSpPr txBox="1"/>
          <p:nvPr>
            <p:ph idx="4294967295" type="ctrTitle"/>
          </p:nvPr>
        </p:nvSpPr>
        <p:spPr>
          <a:xfrm>
            <a:off x="8" y="1242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200">
                <a:latin typeface="Helvetica Neue"/>
                <a:ea typeface="Helvetica Neue"/>
                <a:cs typeface="Helvetica Neue"/>
                <a:sym typeface="Helvetica Neue"/>
              </a:rPr>
              <a:t>GreenCart</a:t>
            </a:r>
            <a:endParaRPr b="1" sz="6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3" name="Google Shape;2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948" y="-2"/>
            <a:ext cx="1603125" cy="17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327275" y="2069850"/>
            <a:ext cx="5476800" cy="3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lt1"/>
                </a:solidFill>
              </a:rPr>
              <a:t>Finalement, GreenCart c’est une application pratique qui t’aide à faire tes courses tout en t’aidant à changer tes habitudes pour mieux consommer !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lt1"/>
                </a:solidFill>
              </a:rPr>
              <a:t>Elle implémente 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fr" sz="1700">
                <a:solidFill>
                  <a:schemeClr val="lt1"/>
                </a:solidFill>
              </a:rPr>
              <a:t>Du SQL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fr" sz="1700">
                <a:solidFill>
                  <a:schemeClr val="lt1"/>
                </a:solidFill>
              </a:rPr>
              <a:t>Des appels à des API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fr" sz="1700">
                <a:solidFill>
                  <a:schemeClr val="lt1"/>
                </a:solidFill>
              </a:rPr>
              <a:t>L’utilisation de la caméra du </a:t>
            </a:r>
            <a:r>
              <a:rPr lang="fr" sz="1700">
                <a:solidFill>
                  <a:schemeClr val="lt1"/>
                </a:solidFill>
              </a:rPr>
              <a:t>téléphone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fr" sz="1700">
                <a:solidFill>
                  <a:schemeClr val="lt1"/>
                </a:solidFill>
              </a:rPr>
              <a:t>Du stockage dans des fichiers JSON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fr" sz="1700">
                <a:solidFill>
                  <a:schemeClr val="lt1"/>
                </a:solidFill>
              </a:rPr>
              <a:t>L’utilisation de fragments et de RecyclerView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245" name="Google Shape;2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4300" y="-58450"/>
            <a:ext cx="23581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